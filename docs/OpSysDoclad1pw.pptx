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ubTitle"/>
          </p:nvPr>
        </p:nvSpPr>
        <p:spPr>
          <a:xfrm>
            <a:off x="540000" y="450000"/>
            <a:ext cx="8640000" cy="292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9E65AC-F46E-4C01-82E8-9D8A9AEBF6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540000" y="450000"/>
            <a:ext cx="8640000" cy="292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796741-FABA-4657-8158-9570FB5234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54"/>
              </a:spcAft>
              <a:buNone/>
            </a:pP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54"/>
              </a:spcAft>
              <a:buNone/>
            </a:pP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0E3FDE-AB65-4EA7-A1D5-A52C978E3A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54"/>
              </a:spcAft>
              <a:buNone/>
            </a:pP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1C1AED-F9B0-456B-805C-6E01E1F778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299BD9-221B-4787-BAC8-5569C3ACABA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rot="16200000">
            <a:off x="43920" y="538920"/>
            <a:ext cx="855000" cy="72000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640280" y="100800"/>
            <a:ext cx="1201320" cy="37080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dist="0" dir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70000" y="180000"/>
            <a:ext cx="9540000" cy="4860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01823" dir="2700000" blurRad="3816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4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7969320" y="162360"/>
            <a:ext cx="905400" cy="1143720"/>
          </a:xfrm>
          <a:prstGeom prst="rect">
            <a:avLst/>
          </a:prstGeom>
          <a:solidFill>
            <a:srgbClr val="81AC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270000" y="471600"/>
            <a:ext cx="8931600" cy="630000"/>
          </a:xfrm>
          <a:prstGeom prst="rect">
            <a:avLst/>
          </a:prstGeom>
          <a:solidFill>
            <a:srgbClr val="B5E77D"/>
          </a:solidFill>
          <a:ln w="0">
            <a:solidFill>
              <a:srgbClr val="91D93F"/>
            </a:solidFill>
          </a:ln>
          <a:effectLst>
            <a:outerShdw dist="17819" dir="2700000" blurRad="126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11600" y="471600"/>
            <a:ext cx="248400" cy="630000"/>
          </a:xfrm>
          <a:prstGeom prst="rect">
            <a:avLst/>
          </a:prstGeom>
          <a:solidFill>
            <a:srgbClr val="B5E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969320" y="100800"/>
            <a:ext cx="904680" cy="79200"/>
          </a:xfrm>
          <a:prstGeom prst="rect">
            <a:avLst/>
          </a:prstGeom>
          <a:solidFill>
            <a:srgbClr val="81AC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4200" rIns="90000" bIns="34200" anchor="ctr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722700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9001A3-BE7C-46F2-B3D1-58F862B740A9}" type="slidenum">
              <a:rPr lang="ru-RU" sz="1400" b="0" u="none" strike="noStrike">
                <a:solidFill>
                  <a:srgbClr val="EEEEEE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1pPr>
            <a:lvl2pPr lvl="1" algn="l">
              <a:spcAft>
                <a:spcPts val="845"/>
              </a:spcAft>
              <a:buClr>
                <a:srgbClr val="91D93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2pPr>
            <a:lvl3pPr lvl="2" algn="l">
              <a:spcAft>
                <a:spcPts val="632"/>
              </a:spcAft>
              <a:buClr>
                <a:srgbClr val="91D93F"/>
              </a:buClr>
              <a:buSzPct val="45000"/>
              <a:buFont typeface="Wingdings 2" charset="2"/>
              <a:buChar char="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3pPr>
            <a:lvl4pPr lvl="3" algn="l">
              <a:spcAft>
                <a:spcPts val="420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4pPr>
            <a:lvl5pPr lvl="4" algn="l">
              <a:spcAft>
                <a:spcPts val="207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5pPr>
            <a:lvl6pPr lvl="5" algn="l">
              <a:spcAft>
                <a:spcPts val="207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6pPr>
            <a:lvl7pPr lvl="6" algn="l">
              <a:spcAft>
                <a:spcPts val="207"/>
              </a:spcAft>
              <a:buClr>
                <a:srgbClr val="91D93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5"/>
              </a:spcAft>
              <a:buClr>
                <a:srgbClr val="91D93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Aft>
                <a:spcPts val="632"/>
              </a:spcAft>
              <a:buClr>
                <a:srgbClr val="91D93F"/>
              </a:buClr>
              <a:buSzPct val="45000"/>
              <a:buFont typeface="Wingdings 2" charset="2"/>
              <a:buChar char="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Aft>
                <a:spcPts val="420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Aft>
                <a:spcPts val="207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Aft>
                <a:spcPts val="207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Aft>
                <a:spcPts val="207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ubTitle"/>
          </p:nvPr>
        </p:nvSpPr>
        <p:spPr>
          <a:xfrm>
            <a:off x="540000" y="450000"/>
            <a:ext cx="8640000" cy="292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ОРГАНИЗАЦИЯ МНОГОПРОЦЕССОРНЫХ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И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МНОГОЯДЕРНЫХ СИСТЕМ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Введение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896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54"/>
              </a:spcAft>
              <a:buNone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Традиционно компьютер рассматривается как машина, предназначенная для выполнения последовательных действий. Такая точка зрения на компьютер никогда не соответствовала действительности полностью. На уровне микроопераций одновременно генерируется несколько управляющих сигналов.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5580000" y="1326600"/>
            <a:ext cx="4140000" cy="328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40000" y="399240"/>
            <a:ext cx="8640000" cy="73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0" algn="l">
              <a:spcAft>
                <a:spcPts val="1054"/>
              </a:spcAft>
              <a:buNone/>
            </a:pPr>
            <a:r>
              <a:rPr lang="ru-RU" sz="2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lang="ru-RU" sz="2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Подходы к обеспечению параллелизма в многопроцессорных системах: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800" b="1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Симметричная многопроцессорность.</a:t>
            </a:r>
            <a:endParaRPr lang="ru-RU" sz="28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800" b="1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Много ядерные компьютеры.</a:t>
            </a:r>
            <a:endParaRPr lang="ru-RU" sz="28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800" b="1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Кластеры.</a:t>
            </a:r>
            <a:endParaRPr lang="ru-RU" sz="28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Симметричная </a:t>
            </a: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многопроцессорность</a:t>
            </a: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. (SMP)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0" algn="l">
              <a:spcAft>
                <a:spcPts val="1054"/>
              </a:spcAft>
              <a:buNone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SMP можно определить как изолированную компьютерную систему, обладающую следующими характеристиками: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Имеется не менее двух похожих процессоров со сравнимыми возможностями.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Эти процессоры используют одну и ту же основную память и устройства-ввода вывода, так что время доступа к памяти имеет примерно одинаковое время.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Все процессоры имеют общий доступ к устройствам ввода-вывода.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Все процессоры могут выполнять одни и те же функции.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Система управляется интегрированной операционной системой, которая обесечивает взаимодействие  между процессорами и их программами на уровне задач, заданий, файлов и элементов данных.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Органицзация SMP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439164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Имеется несколько процессоров, каждый из которых содержит собственный блок управления, арифметико-логическое устройство и регистры.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Каждый процессор имеет досrуп к общей основной памяти и устройствам ввода-вывода.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Процессоры могут общаться друг с другом через память (сообщения и информация о состоянии остаются в общем адресном пространстве).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5151240" y="1409400"/>
            <a:ext cx="4391640" cy="348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0" algn="l">
              <a:spcAft>
                <a:spcPts val="1054"/>
              </a:spcAft>
              <a:buNone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Перимущества SMP: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Производительность.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Надёжность.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Инкрементный рост.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Масштабирование.</a:t>
            </a:r>
            <a:endParaRPr lang="ru-RU" sz="3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Много ядерные компьютеры.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Многоядерные компьютеры, известные также как компьютеры с несколькими процессорами в одной микросхеме (chip multiprocessor), сочетают в себе несколько процессоров (так называемых ядер) в одном корпусе.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Как правило, каждое ядро содержит все компоненты независимого процессора, такие как регистры, арифметико-логическое устройство (АЛУ), аппаратный конвейер и блок управления, а также кеш L 1 команд и данных. Помимо нескольких ядер, современные многоядерные микросхемы содержат кеш L2, а в некоторых случаях - и кеш LЗ.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Пример </a:t>
            </a: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Intel Core i7-5960X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439164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Примером многоядерной системы является Intel Core i7-5960X, который включает в себя восемь процессоров х86, каждый с выделенным кешем L2 и общим кешем LЗ.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Core i7-5960X поддерживает две разновидности внешних коммуникации с другими схемами. Контроллер памяти DDR4 обеспечивает двойную скорость передачи данных (douЫe data rate - DDR) между основной памятью и схемой.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PCI Express представляет собой периферийную шину и обеспечивает высокоскоростную связь между подключенными к процессору схемами.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5151240" y="1829520"/>
            <a:ext cx="4391640" cy="264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Физическое размещение на плате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"/>
          <p:cNvPicPr/>
          <p:nvPr/>
        </p:nvPicPr>
        <p:blipFill>
          <a:blip r:embed="rId1"/>
          <a:stretch/>
        </p:blipFill>
        <p:spPr>
          <a:xfrm>
            <a:off x="5580000" y="1260000"/>
            <a:ext cx="4071240" cy="36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Интерфейс поддерживает четыре канала шириной 8 байт общей ширины шины 256 бит со скоростью передачи данных до 64 Гбайт / с.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При наличии контроллера памяти в чипе устраняется необходимость в шине Front Side B 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Кластеры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Кластер можно определить как взаимосвязанную группу целых компьютеров, совместно работающих как единый вычислительный ресурс, который может создать иллюзию единственной машины.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Каждый компьютер в кластере обычно называется узлом (node).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Преимущества </a:t>
            </a:r>
            <a:r>
              <a:rPr lang="ru-RU" sz="2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кластеров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52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Абсолютная масштабируемось.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Постепенно наращиваемая масштабируемость.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Высокая степень доступности.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54"/>
              </a:spcAft>
              <a:buClr>
                <a:srgbClr val="91D93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Хорошее отношение «Цена/Производительность».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/>
          <p:cNvPicPr/>
          <p:nvPr/>
        </p:nvPicPr>
        <p:blipFill>
          <a:blip r:embed="rId1">
            <a:grayscl/>
          </a:blip>
          <a:stretch/>
        </p:blipFill>
        <p:spPr>
          <a:xfrm>
            <a:off x="6840000" y="1350000"/>
            <a:ext cx="26982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40000" y="450000"/>
            <a:ext cx="8640000" cy="292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ru-RU" sz="4200" b="0" u="none" strike="noStrike">
                <a:solidFill>
                  <a:srgbClr val="666666"/>
                </a:solidFill>
                <a:effectLst/>
                <a:uFillTx/>
                <a:latin typeface="Times New Roman"/>
              </a:rPr>
              <a:t>Спасибо за внимание.</a:t>
            </a:r>
            <a:endParaRPr lang="ru-RU" sz="4200" b="0" u="none" strike="noStrik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082400" y="3371760"/>
            <a:ext cx="1497600" cy="85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много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ядерные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компьютеры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2026-03-25T06:39:31Z</dcterms:created>
  <dc:creator/>
  <dc:description/>
  <dc:language>ru-RU</dc:language>
  <cp:lastModifiedBy/>
  <dcterms:modified xsi:type="dcterms:W3CDTF">2026-03-25T08:34:26Z</dcterms:modified>
  <cp:revision>3</cp:revision>
  <dc:subject/>
  <dc:title/>
</cp:coreProperties>
</file>